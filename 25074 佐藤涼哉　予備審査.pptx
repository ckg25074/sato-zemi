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62" r:id="rId3"/>
    <p:sldId id="257" r:id="rId4"/>
    <p:sldId id="260" r:id="rId5"/>
    <p:sldId id="259" r:id="rId6"/>
    <p:sldId id="264" r:id="rId7"/>
    <p:sldId id="263"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D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10/5/2026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21275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10/5/2026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5425891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DA38F49-B3E2-4BF0-BEC7-C30D34ABBB8D}" type="datetime1">
              <a:rPr lang="en-US" smtClean="0"/>
              <a:t>10/5/2026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5764143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7DA38F49-B3E2-4BF0-BEC7-C30D34ABBB8D}" type="datetime1">
              <a:rPr lang="en-US" smtClean="0"/>
              <a:t>10/5/2026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7390609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7DA38F49-B3E2-4BF0-BEC7-C30D34ABBB8D}" type="datetime1">
              <a:rPr lang="en-US" smtClean="0"/>
              <a:t>10/5/2026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5213259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7DA38F49-B3E2-4BF0-BEC7-C30D34ABBB8D}" type="datetime1">
              <a:rPr lang="en-US" smtClean="0"/>
              <a:t>10/5/2026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4903051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A38F49-B3E2-4BF0-BEC7-C30D34ABBB8D}" type="datetime1">
              <a:rPr lang="en-US" smtClean="0"/>
              <a:t>10/5/2026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8674597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DA38F49-B3E2-4BF0-BEC7-C30D34ABBB8D}" type="datetime1">
              <a:rPr lang="en-US" smtClean="0"/>
              <a:t>10/5/2026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005076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ja-JP" altLang="en-US"/>
              <a:t>マスター タイトルの書式設定</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DA38F49-B3E2-4BF0-BEC7-C30D34ABBB8D}" type="datetime1">
              <a:rPr lang="en-US" smtClean="0"/>
              <a:t>10/5/2026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7079944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7DA38F49-B3E2-4BF0-BEC7-C30D34ABBB8D}" type="datetime1">
              <a:rPr lang="en-US" smtClean="0"/>
              <a:t>10/5/2026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6618796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DA38F49-B3E2-4BF0-BEC7-C30D34ABBB8D}" type="datetime1">
              <a:rPr lang="en-US" smtClean="0"/>
              <a:t>10/5/2026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6114363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ja-JP" altLang="en-US"/>
              <a:t>マスター タイトルの書式設定</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DA38F49-B3E2-4BF0-BEC7-C30D34ABBB8D}" type="datetime1">
              <a:rPr lang="en-US" smtClean="0"/>
              <a:t>10/5/2026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65035388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DA38F49-B3E2-4BF0-BEC7-C30D34ABBB8D}" type="datetime1">
              <a:rPr lang="en-US" smtClean="0"/>
              <a:t>10/5/2026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8007010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ja-JP" altLang="en-US"/>
              <a:t>マスター タイトルの書式設定</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ja-JP" altLang="en-US"/>
              <a:t>マスター テキストの書式設定</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DA38F49-B3E2-4BF0-BEC7-C30D34ABBB8D}" type="datetime1">
              <a:rPr lang="en-US" smtClean="0"/>
              <a:t>10/5/2026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95557683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ja-JP" altLang="en-US"/>
              <a:t>マスター タイトルの書式設定</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ja-JP" altLang="en-US"/>
              <a:t>マスター テキストの書式設定</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DA38F49-B3E2-4BF0-BEC7-C30D34ABBB8D}" type="datetime1">
              <a:rPr lang="en-US" smtClean="0"/>
              <a:t>10/5/2026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8346071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10/5/2026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9301216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10/5/2026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1229775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7DA38F49-B3E2-4BF0-BEC7-C30D34ABBB8D}" type="datetime1">
              <a:rPr lang="en-US" smtClean="0"/>
              <a:t>10/5/2026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3714924139"/>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hf sldNum="0" hdr="0" ftr="0" dt="0"/>
  <p:txStyles>
    <p:titleStyle>
      <a:lvl1pPr algn="l" defTabSz="457200" rtl="0" eaLnBrk="1" latinLnBrk="0" hangingPunct="1">
        <a:spcBef>
          <a:spcPct val="0"/>
        </a:spcBef>
        <a:buNone/>
        <a:defRPr kumimoji="1" sz="3600" kern="1200" cap="all">
          <a:ln w="3175" cmpd="sng">
            <a:noFill/>
          </a:ln>
          <a:solidFill>
            <a:schemeClr val="tx1"/>
          </a:solidFill>
          <a:effectLst/>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05CE85-1177-3D15-C07F-4E3EE1F960F6}"/>
              </a:ext>
            </a:extLst>
          </p:cNvPr>
          <p:cNvPicPr>
            <a:picLocks noChangeAspect="1"/>
          </p:cNvPicPr>
          <p:nvPr/>
        </p:nvPicPr>
        <p:blipFill>
          <a:blip r:embed="rId2">
            <a:grayscl/>
          </a:blip>
          <a:srcRect t="15413"/>
          <a:stretch>
            <a:fillRect/>
          </a:stretch>
        </p:blipFill>
        <p:spPr>
          <a:xfrm>
            <a:off x="20" y="0"/>
            <a:ext cx="12191980" cy="6857990"/>
          </a:xfrm>
          <a:prstGeom prst="rect">
            <a:avLst/>
          </a:prstGeom>
        </p:spPr>
      </p:pic>
      <p:sp>
        <p:nvSpPr>
          <p:cNvPr id="2" name="タイトル 1">
            <a:extLst>
              <a:ext uri="{FF2B5EF4-FFF2-40B4-BE49-F238E27FC236}">
                <a16:creationId xmlns:a16="http://schemas.microsoft.com/office/drawing/2014/main" id="{96531222-2ED5-D2DC-2D71-7B6D5853A322}"/>
              </a:ext>
            </a:extLst>
          </p:cNvPr>
          <p:cNvSpPr>
            <a:spLocks noGrp="1"/>
          </p:cNvSpPr>
          <p:nvPr>
            <p:ph type="ctrTitle"/>
          </p:nvPr>
        </p:nvSpPr>
        <p:spPr>
          <a:xfrm>
            <a:off x="-15334" y="2243297"/>
            <a:ext cx="8330845" cy="3087452"/>
          </a:xfrm>
        </p:spPr>
        <p:txBody>
          <a:bodyPr>
            <a:normAutofit/>
          </a:bodyPr>
          <a:lstStyle/>
          <a:p>
            <a:r>
              <a:rPr kumimoji="1" lang="ja-JP" altLang="en-US" sz="6600" b="1" dirty="0">
                <a:effectLst>
                  <a:glow rad="228600">
                    <a:schemeClr val="accent1">
                      <a:satMod val="175000"/>
                      <a:alpha val="40000"/>
                    </a:schemeClr>
                  </a:glow>
                </a:effectLst>
              </a:rPr>
              <a:t>予備審査発表</a:t>
            </a:r>
          </a:p>
        </p:txBody>
      </p:sp>
      <p:sp>
        <p:nvSpPr>
          <p:cNvPr id="3" name="字幕 2">
            <a:extLst>
              <a:ext uri="{FF2B5EF4-FFF2-40B4-BE49-F238E27FC236}">
                <a16:creationId xmlns:a16="http://schemas.microsoft.com/office/drawing/2014/main" id="{EB79B718-BA36-6A4D-FF86-1AFDBE76239F}"/>
              </a:ext>
            </a:extLst>
          </p:cNvPr>
          <p:cNvSpPr>
            <a:spLocks noGrp="1"/>
          </p:cNvSpPr>
          <p:nvPr>
            <p:ph type="subTitle" idx="1"/>
          </p:nvPr>
        </p:nvSpPr>
        <p:spPr>
          <a:xfrm>
            <a:off x="6345936" y="1033272"/>
            <a:ext cx="5217305" cy="1573450"/>
          </a:xfrm>
        </p:spPr>
        <p:txBody>
          <a:bodyPr>
            <a:normAutofit fontScale="25000" lnSpcReduction="20000"/>
          </a:bodyPr>
          <a:lstStyle/>
          <a:p>
            <a:r>
              <a:rPr kumimoji="1" lang="ja-JP" altLang="en-US" sz="16000" b="1" dirty="0">
                <a:solidFill>
                  <a:schemeClr val="tx1"/>
                </a:solidFill>
                <a:effectLst>
                  <a:glow rad="228600">
                    <a:schemeClr val="accent1">
                      <a:satMod val="175000"/>
                      <a:alpha val="40000"/>
                    </a:schemeClr>
                  </a:glow>
                </a:effectLst>
              </a:rPr>
              <a:t>学番：</a:t>
            </a:r>
            <a:r>
              <a:rPr kumimoji="1" lang="en-US" altLang="ja-JP" sz="16000" b="1" dirty="0">
                <a:solidFill>
                  <a:schemeClr val="tx1"/>
                </a:solidFill>
                <a:effectLst>
                  <a:glow rad="228600">
                    <a:schemeClr val="accent1">
                      <a:satMod val="175000"/>
                      <a:alpha val="40000"/>
                    </a:schemeClr>
                  </a:glow>
                </a:effectLst>
              </a:rPr>
              <a:t>25074</a:t>
            </a:r>
            <a:r>
              <a:rPr kumimoji="1" lang="ja-JP" altLang="en-US" sz="16000" b="1" dirty="0">
                <a:solidFill>
                  <a:schemeClr val="tx1"/>
                </a:solidFill>
                <a:effectLst>
                  <a:glow rad="228600">
                    <a:schemeClr val="accent1">
                      <a:satMod val="175000"/>
                      <a:alpha val="40000"/>
                    </a:schemeClr>
                  </a:glow>
                </a:effectLst>
              </a:rPr>
              <a:t>　</a:t>
            </a:r>
            <a:endParaRPr kumimoji="1" lang="en-US" altLang="ja-JP" sz="16000" b="1" dirty="0">
              <a:solidFill>
                <a:schemeClr val="tx1"/>
              </a:solidFill>
              <a:effectLst>
                <a:glow rad="228600">
                  <a:schemeClr val="accent1">
                    <a:satMod val="175000"/>
                    <a:alpha val="40000"/>
                  </a:schemeClr>
                </a:glow>
              </a:effectLst>
            </a:endParaRPr>
          </a:p>
          <a:p>
            <a:r>
              <a:rPr kumimoji="1" lang="ja-JP" altLang="en-US" sz="16000" b="1" dirty="0">
                <a:solidFill>
                  <a:schemeClr val="tx1"/>
                </a:solidFill>
                <a:effectLst>
                  <a:glow rad="228600">
                    <a:schemeClr val="accent1">
                      <a:satMod val="175000"/>
                      <a:alpha val="40000"/>
                    </a:schemeClr>
                  </a:glow>
                </a:effectLst>
              </a:rPr>
              <a:t>名前：佐藤涼哉</a:t>
            </a:r>
            <a:endParaRPr kumimoji="1" lang="en-US" altLang="ja-JP" sz="16000" b="1" dirty="0">
              <a:solidFill>
                <a:schemeClr val="tx1"/>
              </a:solidFill>
              <a:effectLst>
                <a:glow rad="228600">
                  <a:schemeClr val="accent1">
                    <a:satMod val="175000"/>
                    <a:alpha val="40000"/>
                  </a:schemeClr>
                </a:glow>
              </a:effectLst>
            </a:endParaRPr>
          </a:p>
          <a:p>
            <a:endParaRPr kumimoji="1" lang="en-US" altLang="ja-JP" sz="16000" b="1">
              <a:solidFill>
                <a:schemeClr val="tx1"/>
              </a:solidFill>
              <a:effectLst>
                <a:glow rad="228600">
                  <a:schemeClr val="accent1">
                    <a:satMod val="175000"/>
                    <a:alpha val="40000"/>
                  </a:schemeClr>
                </a:glow>
              </a:effectLst>
            </a:endParaRPr>
          </a:p>
          <a:p>
            <a:endParaRPr lang="en-US" altLang="ja-JP" sz="12800">
              <a:solidFill>
                <a:schemeClr val="tx1"/>
              </a:solidFill>
            </a:endParaRPr>
          </a:p>
          <a:p>
            <a:endParaRPr lang="en-US" altLang="ja-JP" sz="8600" dirty="0">
              <a:solidFill>
                <a:schemeClr val="tx1"/>
              </a:solidFill>
            </a:endParaRPr>
          </a:p>
          <a:p>
            <a:endParaRPr kumimoji="1" lang="en-US" altLang="ja-JP" sz="4000" dirty="0">
              <a:solidFill>
                <a:schemeClr val="tx1"/>
              </a:solidFill>
            </a:endParaRPr>
          </a:p>
          <a:p>
            <a:endParaRPr kumimoji="1" lang="ja-JP" altLang="en-US" sz="4000" dirty="0">
              <a:solidFill>
                <a:schemeClr val="tx1"/>
              </a:solidFill>
            </a:endParaRPr>
          </a:p>
        </p:txBody>
      </p:sp>
    </p:spTree>
    <p:extLst>
      <p:ext uri="{BB962C8B-B14F-4D97-AF65-F5344CB8AC3E}">
        <p14:creationId xmlns:p14="http://schemas.microsoft.com/office/powerpoint/2010/main" val="107598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91962F18-B000-A877-F000-CD91DC699A33}"/>
              </a:ext>
            </a:extLst>
          </p:cNvPr>
          <p:cNvSpPr txBox="1"/>
          <p:nvPr/>
        </p:nvSpPr>
        <p:spPr>
          <a:xfrm>
            <a:off x="1115568" y="2258568"/>
            <a:ext cx="9688871" cy="1323439"/>
          </a:xfrm>
          <a:prstGeom prst="rect">
            <a:avLst/>
          </a:prstGeom>
          <a:noFill/>
        </p:spPr>
        <p:txBody>
          <a:bodyPr wrap="none" rtlCol="0">
            <a:spAutoFit/>
          </a:bodyPr>
          <a:lstStyle/>
          <a:p>
            <a:r>
              <a:rPr lang="ja-JP" altLang="en-US" sz="4800" u="sng" dirty="0">
                <a:solidFill>
                  <a:schemeClr val="bg1"/>
                </a:solidFill>
                <a:effectLst/>
                <a:latin typeface="HGP創英角ｺﾞｼｯｸUB" panose="020B0900000000000000" pitchFamily="50" charset="-128"/>
                <a:ea typeface="HGP創英角ｺﾞｼｯｸUB" panose="020B0900000000000000" pitchFamily="50" charset="-128"/>
                <a:cs typeface="Times New Roman" panose="02020603050405020304" pitchFamily="18" charset="0"/>
              </a:rPr>
              <a:t>テーマ：</a:t>
            </a:r>
            <a:r>
              <a:rPr lang="ja-JP" altLang="ja-JP" sz="4800" u="sng" dirty="0">
                <a:solidFill>
                  <a:schemeClr val="bg1"/>
                </a:solidFill>
                <a:effectLst/>
                <a:latin typeface="HGP創英角ｺﾞｼｯｸUB" panose="020B0900000000000000" pitchFamily="50" charset="-128"/>
                <a:ea typeface="HGP創英角ｺﾞｼｯｸUB" panose="020B0900000000000000" pitchFamily="50" charset="-128"/>
                <a:cs typeface="Times New Roman" panose="02020603050405020304" pitchFamily="18" charset="0"/>
              </a:rPr>
              <a:t>太宰府天満宮の歴史を知ろう</a:t>
            </a:r>
            <a:endParaRPr lang="ja-JP" altLang="ja-JP" sz="4800" dirty="0">
              <a:solidFill>
                <a:schemeClr val="bg1"/>
              </a:solidFill>
              <a:effectLst/>
              <a:latin typeface="HGP創英角ｺﾞｼｯｸUB" panose="020B0900000000000000" pitchFamily="50" charset="-128"/>
              <a:ea typeface="HGP創英角ｺﾞｼｯｸUB" panose="020B0900000000000000" pitchFamily="50" charset="-128"/>
              <a:cs typeface="Times New Roman" panose="02020603050405020304" pitchFamily="18" charset="0"/>
            </a:endParaRPr>
          </a:p>
          <a:p>
            <a:endParaRPr kumimoji="1" lang="ja-JP" altLang="en-US" sz="3200" b="1" dirty="0"/>
          </a:p>
        </p:txBody>
      </p:sp>
      <p:pic>
        <p:nvPicPr>
          <p:cNvPr id="5" name="図 4" descr="寺院の建物&#10;&#10;AI によって生成されたコンテンツは間違っている可能性があります。">
            <a:extLst>
              <a:ext uri="{FF2B5EF4-FFF2-40B4-BE49-F238E27FC236}">
                <a16:creationId xmlns:a16="http://schemas.microsoft.com/office/drawing/2014/main" id="{629F9591-6AC7-F056-F06E-A84EE47885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3429000"/>
            <a:ext cx="4572000" cy="3429000"/>
          </a:xfrm>
          <a:prstGeom prst="rect">
            <a:avLst/>
          </a:prstGeom>
        </p:spPr>
      </p:pic>
    </p:spTree>
    <p:extLst>
      <p:ext uri="{BB962C8B-B14F-4D97-AF65-F5344CB8AC3E}">
        <p14:creationId xmlns:p14="http://schemas.microsoft.com/office/powerpoint/2010/main" val="3199069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3">
            <a:extLst>
              <a:ext uri="{FF2B5EF4-FFF2-40B4-BE49-F238E27FC236}">
                <a16:creationId xmlns:a16="http://schemas.microsoft.com/office/drawing/2014/main" id="{6FEC1DF7-E2AD-C5C7-9FD5-CE9D0DE76900}"/>
              </a:ext>
            </a:extLst>
          </p:cNvPr>
          <p:cNvSpPr>
            <a:spLocks noGrp="1"/>
          </p:cNvSpPr>
          <p:nvPr>
            <p:ph idx="1"/>
          </p:nvPr>
        </p:nvSpPr>
        <p:spPr>
          <a:xfrm>
            <a:off x="857948" y="872065"/>
            <a:ext cx="8534400" cy="3615267"/>
          </a:xfrm>
        </p:spPr>
        <p:txBody>
          <a:bodyPr>
            <a:normAutofit fontScale="25000" lnSpcReduction="20000"/>
          </a:bodyPr>
          <a:lstStyle/>
          <a:p>
            <a:pPr>
              <a:buNone/>
            </a:pP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目的・背景</a:t>
            </a:r>
          </a:p>
          <a:p>
            <a:pPr>
              <a:buNone/>
            </a:pP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太宰府天満宮は福岡の有名な観光スポットの一つで、観光客数ピーク時</a:t>
            </a:r>
            <a:endParaRPr lang="en-US"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endParaRPr>
          </a:p>
          <a:p>
            <a:pPr>
              <a:buNone/>
            </a:pPr>
            <a:r>
              <a:rPr lang="ja-JP" altLang="en-US" sz="9600" b="1" dirty="0">
                <a:solidFill>
                  <a:schemeClr val="bg1"/>
                </a:solidFill>
                <a:latin typeface="BIZ UD明朝 Medium" panose="02020500000000000000" pitchFamily="17" charset="-128"/>
                <a:ea typeface="BIZ UD明朝 Medium" panose="02020500000000000000" pitchFamily="17" charset="-128"/>
                <a:cs typeface="Times New Roman" panose="02020603050405020304" pitchFamily="18" charset="0"/>
              </a:rPr>
              <a:t>は</a:t>
            </a:r>
            <a:r>
              <a:rPr lang="en-US"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2025</a:t>
            </a: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年の</a:t>
            </a:r>
            <a:r>
              <a:rPr lang="en-US"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1</a:t>
            </a: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月に</a:t>
            </a:r>
            <a:r>
              <a:rPr lang="en-US"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36.6</a:t>
            </a: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万人という数を出しています。</a:t>
            </a:r>
          </a:p>
          <a:p>
            <a:pPr>
              <a:buNone/>
            </a:pP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ですが、</a:t>
            </a:r>
            <a:endParaRPr lang="en-US"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endParaRPr>
          </a:p>
          <a:p>
            <a:pPr>
              <a:buNone/>
            </a:pPr>
            <a:r>
              <a:rPr lang="ja-JP" altLang="ja-JP" sz="9600" b="1" u="sng"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太宰府天満宮の歴史を知らない人は多く、場所は知っているけどなんで出来たのだろう？</a:t>
            </a: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となる人もいます</a:t>
            </a:r>
          </a:p>
          <a:p>
            <a:pPr>
              <a:buNone/>
            </a:pP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解説と資料を交えた情報を</a:t>
            </a:r>
            <a:r>
              <a:rPr lang="en-US"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We</a:t>
            </a: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ｂサイトにまとめ、太宰府天満宮へ行ったことのある人、これから太宰府天満宮に行きたいと思う人が</a:t>
            </a:r>
            <a:r>
              <a:rPr lang="en-US"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We</a:t>
            </a: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ｂサイトを読んでさらに興味を広げてほしいと思って制作を開始しました。</a:t>
            </a:r>
          </a:p>
          <a:p>
            <a:r>
              <a:rPr lang="en-US"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Web</a:t>
            </a: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サイトにした理由は</a:t>
            </a:r>
            <a:r>
              <a:rPr lang="en-US"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Web</a:t>
            </a: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サイトの利点としてその</a:t>
            </a:r>
            <a:r>
              <a:rPr lang="en-US"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Web</a:t>
            </a:r>
            <a:r>
              <a:rPr lang="ja-JP" altLang="ja-JP" sz="9600" b="1" dirty="0">
                <a:solidFill>
                  <a:schemeClr val="bg1"/>
                </a:solidFill>
                <a:effectLst/>
                <a:latin typeface="BIZ UD明朝 Medium" panose="02020500000000000000" pitchFamily="17" charset="-128"/>
                <a:ea typeface="BIZ UD明朝 Medium" panose="02020500000000000000" pitchFamily="17" charset="-128"/>
                <a:cs typeface="Times New Roman" panose="02020603050405020304" pitchFamily="18" charset="0"/>
              </a:rPr>
              <a:t>サイトでしか得られない情報などがあり、その情報をまとめて見ることが出来て便利だと思ったからです。</a:t>
            </a:r>
          </a:p>
          <a:p>
            <a:endParaRPr lang="ja-JP" altLang="en-US" dirty="0"/>
          </a:p>
        </p:txBody>
      </p:sp>
    </p:spTree>
    <p:extLst>
      <p:ext uri="{BB962C8B-B14F-4D97-AF65-F5344CB8AC3E}">
        <p14:creationId xmlns:p14="http://schemas.microsoft.com/office/powerpoint/2010/main" val="1953782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6881D6F0-82EA-FBE1-5940-C25BE55ACBF6}"/>
              </a:ext>
            </a:extLst>
          </p:cNvPr>
          <p:cNvSpPr>
            <a:spLocks noGrp="1"/>
          </p:cNvSpPr>
          <p:nvPr>
            <p:ph type="title"/>
          </p:nvPr>
        </p:nvSpPr>
        <p:spPr/>
        <p:txBody>
          <a:bodyPr/>
          <a:lstStyle/>
          <a:p>
            <a:endParaRPr lang="ja-JP" altLang="en-US" dirty="0"/>
          </a:p>
        </p:txBody>
      </p:sp>
      <p:sp>
        <p:nvSpPr>
          <p:cNvPr id="2" name="テキスト ボックス 1">
            <a:extLst>
              <a:ext uri="{FF2B5EF4-FFF2-40B4-BE49-F238E27FC236}">
                <a16:creationId xmlns:a16="http://schemas.microsoft.com/office/drawing/2014/main" id="{D7ED4D73-8086-FBD5-C835-80197356F863}"/>
              </a:ext>
            </a:extLst>
          </p:cNvPr>
          <p:cNvSpPr txBox="1"/>
          <p:nvPr/>
        </p:nvSpPr>
        <p:spPr>
          <a:xfrm>
            <a:off x="1106424" y="713232"/>
            <a:ext cx="8878824" cy="3693319"/>
          </a:xfrm>
          <a:prstGeom prst="rect">
            <a:avLst/>
          </a:prstGeom>
          <a:noFill/>
        </p:spPr>
        <p:txBody>
          <a:bodyPr wrap="square" rtlCol="0">
            <a:spAutoFit/>
          </a:bodyPr>
          <a:lstStyle/>
          <a:p>
            <a:pPr>
              <a:buNone/>
            </a:pPr>
            <a:r>
              <a:rPr lang="ja-JP" altLang="ja-JP" sz="2400" dirty="0">
                <a:solidFill>
                  <a:schemeClr val="bg1"/>
                </a:solidFill>
                <a:effectLst/>
                <a:latin typeface="HGP創英角ｺﾞｼｯｸUB" panose="020B0900000000000000" pitchFamily="50" charset="-128"/>
                <a:ea typeface="HGP創英角ｺﾞｼｯｸUB" panose="020B0900000000000000" pitchFamily="50" charset="-128"/>
                <a:cs typeface="Times New Roman" panose="02020603050405020304" pitchFamily="18" charset="0"/>
              </a:rPr>
              <a:t>背景としましては初めて自分が太宰府天満宮に行ったときにとても感動して、街並みも綺麗な和風で自分の好きな場所になったからです。既に太宰府天満宮が福岡の観光スポットとして有名ですが、自分が歴史についてまとめてもっと太宰府天満宮に興味を持ってほしいと考えました。</a:t>
            </a:r>
          </a:p>
          <a:p>
            <a:pPr>
              <a:buNone/>
            </a:pPr>
            <a:r>
              <a:rPr lang="en-US" altLang="ja-JP" sz="2400" dirty="0">
                <a:solidFill>
                  <a:schemeClr val="bg1"/>
                </a:solidFill>
                <a:effectLst/>
                <a:latin typeface="HGP創英角ｺﾞｼｯｸUB" panose="020B0900000000000000" pitchFamily="50" charset="-128"/>
                <a:ea typeface="HGP創英角ｺﾞｼｯｸUB" panose="020B0900000000000000" pitchFamily="50" charset="-128"/>
                <a:cs typeface="Times New Roman" panose="02020603050405020304" pitchFamily="18" charset="0"/>
              </a:rPr>
              <a:t> </a:t>
            </a:r>
            <a:endParaRPr lang="ja-JP" altLang="ja-JP" sz="2400" dirty="0">
              <a:solidFill>
                <a:schemeClr val="bg1"/>
              </a:solidFill>
              <a:effectLst/>
              <a:latin typeface="HGP創英角ｺﾞｼｯｸUB" panose="020B0900000000000000" pitchFamily="50" charset="-128"/>
              <a:ea typeface="HGP創英角ｺﾞｼｯｸUB" panose="020B0900000000000000" pitchFamily="50" charset="-128"/>
              <a:cs typeface="Times New Roman" panose="02020603050405020304" pitchFamily="18" charset="0"/>
            </a:endParaRPr>
          </a:p>
          <a:p>
            <a:r>
              <a:rPr lang="ja-JP" altLang="ja-JP" sz="2400" dirty="0">
                <a:solidFill>
                  <a:schemeClr val="bg1"/>
                </a:solidFill>
                <a:effectLst/>
                <a:latin typeface="HGP創英角ｺﾞｼｯｸUB" panose="020B0900000000000000" pitchFamily="50" charset="-128"/>
                <a:ea typeface="HGP創英角ｺﾞｼｯｸUB" panose="020B0900000000000000" pitchFamily="50" charset="-128"/>
                <a:cs typeface="Times New Roman" panose="02020603050405020304" pitchFamily="18" charset="0"/>
              </a:rPr>
              <a:t>歴史についても資料を見て調べていくうちに興味を持ち、既に行ったことのある人でもまだ行ったことのない人にも、まだ知らない歴史を知ってほしいと思いテーマにしました。</a:t>
            </a:r>
          </a:p>
          <a:p>
            <a:endParaRPr kumimoji="1" lang="ja-JP" altLang="en-US" dirty="0"/>
          </a:p>
        </p:txBody>
      </p:sp>
      <p:pic>
        <p:nvPicPr>
          <p:cNvPr id="5" name="図 4">
            <a:extLst>
              <a:ext uri="{FF2B5EF4-FFF2-40B4-BE49-F238E27FC236}">
                <a16:creationId xmlns:a16="http://schemas.microsoft.com/office/drawing/2014/main" id="{F21708CB-2033-260E-2153-DE9012299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2744" y="3872694"/>
            <a:ext cx="3648456" cy="2736342"/>
          </a:xfrm>
          <a:prstGeom prst="rect">
            <a:avLst/>
          </a:prstGeom>
        </p:spPr>
      </p:pic>
    </p:spTree>
    <p:extLst>
      <p:ext uri="{BB962C8B-B14F-4D97-AF65-F5344CB8AC3E}">
        <p14:creationId xmlns:p14="http://schemas.microsoft.com/office/powerpoint/2010/main" val="4239299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D1C274B7-8573-34D6-DC4B-795A90FFD3A8}"/>
              </a:ext>
            </a:extLst>
          </p:cNvPr>
          <p:cNvSpPr>
            <a:spLocks noGrp="1"/>
          </p:cNvSpPr>
          <p:nvPr>
            <p:ph type="title"/>
          </p:nvPr>
        </p:nvSpPr>
        <p:spPr/>
        <p:txBody>
          <a:bodyPr/>
          <a:lstStyle/>
          <a:p>
            <a:endParaRPr lang="ja-JP" altLang="en-US"/>
          </a:p>
        </p:txBody>
      </p:sp>
      <p:sp>
        <p:nvSpPr>
          <p:cNvPr id="5" name="コンテンツ プレースホルダー 4">
            <a:extLst>
              <a:ext uri="{FF2B5EF4-FFF2-40B4-BE49-F238E27FC236}">
                <a16:creationId xmlns:a16="http://schemas.microsoft.com/office/drawing/2014/main" id="{735A5BB5-7777-C65F-646F-31CE91FE9B59}"/>
              </a:ext>
            </a:extLst>
          </p:cNvPr>
          <p:cNvSpPr>
            <a:spLocks noGrp="1"/>
          </p:cNvSpPr>
          <p:nvPr>
            <p:ph idx="1"/>
          </p:nvPr>
        </p:nvSpPr>
        <p:spPr>
          <a:xfrm>
            <a:off x="684212" y="685801"/>
            <a:ext cx="8606092" cy="3319272"/>
          </a:xfrm>
        </p:spPr>
        <p:txBody>
          <a:bodyPr/>
          <a:lstStyle/>
          <a:p>
            <a:pPr marL="342900" lvl="0" indent="-342900">
              <a:buFont typeface="+mj-ea"/>
              <a:buAutoNum type="circleNumDbPlain"/>
            </a:pPr>
            <a:r>
              <a:rPr lang="ja-JP" altLang="en-US" b="1" dirty="0">
                <a:solidFill>
                  <a:schemeClr val="bg1"/>
                </a:solidFill>
                <a:latin typeface="BIZ UDゴシック" panose="020B0400000000000000" pitchFamily="49" charset="-128"/>
                <a:ea typeface="BIZ UDゴシック" panose="020B0400000000000000" pitchFamily="49" charset="-128"/>
              </a:rPr>
              <a:t>ターゲット：</a:t>
            </a:r>
            <a:r>
              <a:rPr lang="ja-JP" altLang="ja-JP" sz="1800" b="1" dirty="0">
                <a:solidFill>
                  <a:schemeClr val="bg1"/>
                </a:solidFill>
                <a:effectLst/>
                <a:latin typeface="BIZ UDゴシック" panose="020B0400000000000000" pitchFamily="49" charset="-128"/>
                <a:ea typeface="BIZ UDゴシック" panose="020B0400000000000000" pitchFamily="49" charset="-128"/>
                <a:cs typeface="Times New Roman" panose="02020603050405020304" pitchFamily="18" charset="0"/>
              </a:rPr>
              <a:t>太宰府天満宮に行ったことのあるけど、歴史を知らない人</a:t>
            </a:r>
          </a:p>
          <a:p>
            <a:pPr marL="342900" lvl="0" indent="-342900">
              <a:buFont typeface="+mj-ea"/>
              <a:buAutoNum type="circleNumDbPlain"/>
            </a:pPr>
            <a:r>
              <a:rPr lang="ja-JP" altLang="ja-JP" sz="1800" b="1" dirty="0">
                <a:solidFill>
                  <a:schemeClr val="bg1"/>
                </a:solidFill>
                <a:effectLst/>
                <a:latin typeface="BIZ UDゴシック" panose="020B0400000000000000" pitchFamily="49" charset="-128"/>
                <a:ea typeface="BIZ UDゴシック" panose="020B0400000000000000" pitchFamily="49" charset="-128"/>
                <a:cs typeface="Times New Roman" panose="02020603050405020304" pitchFamily="18" charset="0"/>
              </a:rPr>
              <a:t>本校の一般生（アンケート制作）</a:t>
            </a:r>
          </a:p>
          <a:p>
            <a:endParaRPr lang="ja-JP" altLang="en-US" b="1" dirty="0">
              <a:solidFill>
                <a:schemeClr val="bg1"/>
              </a:solidFill>
            </a:endParaRPr>
          </a:p>
        </p:txBody>
      </p:sp>
      <p:pic>
        <p:nvPicPr>
          <p:cNvPr id="7" name="図 6" descr="グラフ, 円グラフ&#10;&#10;AI によって生成されたコンテンツは間違っている可能性があります。">
            <a:extLst>
              <a:ext uri="{FF2B5EF4-FFF2-40B4-BE49-F238E27FC236}">
                <a16:creationId xmlns:a16="http://schemas.microsoft.com/office/drawing/2014/main" id="{8717EC68-2F7A-ACE1-EB64-71BD95EA7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5916" y="3004749"/>
            <a:ext cx="5219968" cy="2768742"/>
          </a:xfrm>
          <a:prstGeom prst="rect">
            <a:avLst/>
          </a:prstGeom>
        </p:spPr>
      </p:pic>
      <p:pic>
        <p:nvPicPr>
          <p:cNvPr id="10" name="図 9" descr="グラフ, 円グラフ&#10;&#10;AI によって生成されたコンテンツは間違っている可能性があります。">
            <a:extLst>
              <a:ext uri="{FF2B5EF4-FFF2-40B4-BE49-F238E27FC236}">
                <a16:creationId xmlns:a16="http://schemas.microsoft.com/office/drawing/2014/main" id="{C1ED569E-C371-5CD6-47AC-1666A821D6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096" y="3017449"/>
            <a:ext cx="5226319" cy="2756042"/>
          </a:xfrm>
          <a:prstGeom prst="rect">
            <a:avLst/>
          </a:prstGeom>
        </p:spPr>
      </p:pic>
    </p:spTree>
    <p:extLst>
      <p:ext uri="{BB962C8B-B14F-4D97-AF65-F5344CB8AC3E}">
        <p14:creationId xmlns:p14="http://schemas.microsoft.com/office/powerpoint/2010/main" val="60463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398BE6-80DA-2F3B-0CF3-067C817E5F11}"/>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B3266452-F81D-AFC1-90AB-A0CFA6ED9C8C}"/>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889196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E386333-E332-C677-DD93-D8D180C3BD2B}"/>
              </a:ext>
            </a:extLst>
          </p:cNvPr>
          <p:cNvSpPr>
            <a:spLocks noGrp="1"/>
          </p:cNvSpPr>
          <p:nvPr>
            <p:ph idx="1"/>
          </p:nvPr>
        </p:nvSpPr>
        <p:spPr>
          <a:xfrm>
            <a:off x="537908" y="1941913"/>
            <a:ext cx="8534400" cy="3615267"/>
          </a:xfrm>
        </p:spPr>
        <p:txBody>
          <a:bodyPr>
            <a:normAutofit fontScale="25000" lnSpcReduction="20000"/>
          </a:bodyPr>
          <a:lstStyle/>
          <a:p>
            <a:pPr>
              <a:spcBef>
                <a:spcPts val="600"/>
              </a:spcBef>
              <a:spcAft>
                <a:spcPts val="1200"/>
              </a:spcAft>
              <a:buNone/>
            </a:pPr>
            <a:r>
              <a:rPr lang="ja-JP" altLang="ja-JP" sz="8000" b="1" dirty="0">
                <a:solidFill>
                  <a:schemeClr val="bg1"/>
                </a:solidFill>
                <a:effectLst/>
                <a:latin typeface="Arial" panose="020B0604020202020204" pitchFamily="34" charset="0"/>
                <a:ea typeface="ＭＳ Ｐゴシック" panose="020B0600070205080204" pitchFamily="50" charset="-128"/>
                <a:cs typeface="Arial" panose="020B0604020202020204" pitchFamily="34" charset="0"/>
              </a:rPr>
              <a:t>テーマ２：ポスター制作</a:t>
            </a:r>
            <a:endParaRPr lang="ja-JP" altLang="ja-JP" sz="8000" b="1" dirty="0">
              <a:solidFill>
                <a:schemeClr val="bg1"/>
              </a:solidFill>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a:p>
            <a:pPr>
              <a:spcBef>
                <a:spcPts val="600"/>
              </a:spcBef>
              <a:spcAft>
                <a:spcPts val="1200"/>
              </a:spcAft>
              <a:buNone/>
            </a:pPr>
            <a:r>
              <a:rPr lang="ja-JP" altLang="ja-JP" sz="8000" b="1" dirty="0">
                <a:solidFill>
                  <a:schemeClr val="bg1"/>
                </a:solidFill>
                <a:effectLst/>
                <a:latin typeface="Arial" panose="020B0604020202020204" pitchFamily="34" charset="0"/>
                <a:ea typeface="ＭＳ Ｐゴシック" panose="020B0600070205080204" pitchFamily="50" charset="-128"/>
                <a:cs typeface="Arial" panose="020B0604020202020204" pitchFamily="34" charset="0"/>
              </a:rPr>
              <a:t>タイトル</a:t>
            </a:r>
            <a:r>
              <a:rPr lang="ja-JP" altLang="ja-JP" sz="8000" b="1" dirty="0">
                <a:solidFill>
                  <a:schemeClr val="bg1"/>
                </a:solidFill>
                <a:effectLst/>
                <a:latin typeface="ＭＳ Ｐゴシック" panose="020B0600070205080204" pitchFamily="50" charset="-128"/>
                <a:ea typeface="BIZ UDゴシック" panose="020B0400000000000000" pitchFamily="49" charset="-128"/>
                <a:cs typeface="Arial" panose="020B0604020202020204" pitchFamily="34" charset="0"/>
              </a:rPr>
              <a:t>：</a:t>
            </a:r>
            <a:r>
              <a:rPr lang="ja-JP" altLang="ja-JP" sz="8000" b="1" dirty="0">
                <a:solidFill>
                  <a:schemeClr val="bg1"/>
                </a:solidFill>
                <a:effectLst/>
                <a:latin typeface="ＭＳ Ｐゴシック" panose="020B0600070205080204" pitchFamily="50" charset="-128"/>
                <a:ea typeface="BIZ UDゴシック" panose="020B0400000000000000" pitchFamily="49" charset="-128"/>
                <a:cs typeface="ＭＳ Ｐゴシック" panose="020B0600070205080204" pitchFamily="50" charset="-128"/>
              </a:rPr>
              <a:t>自然と学問の神社</a:t>
            </a:r>
            <a:r>
              <a:rPr lang="ja-JP" altLang="ja-JP" sz="8000" b="1" dirty="0">
                <a:solidFill>
                  <a:schemeClr val="bg1"/>
                </a:solidFill>
                <a:effectLst/>
                <a:latin typeface="ＭＳ Ｐゴシック" panose="020B0600070205080204" pitchFamily="50" charset="-128"/>
                <a:ea typeface="ＭＳ Ｐ明朝" panose="02020600040205080304" pitchFamily="18" charset="-128"/>
                <a:cs typeface="ＭＳ Ｐゴシック" panose="020B0600070205080204" pitchFamily="50" charset="-128"/>
              </a:rPr>
              <a:t>　</a:t>
            </a:r>
            <a:r>
              <a:rPr lang="ja-JP" altLang="ja-JP" sz="8000" b="1" dirty="0">
                <a:solidFill>
                  <a:schemeClr val="bg1"/>
                </a:solidFill>
                <a:effectLst/>
                <a:latin typeface="Arial" panose="020B0604020202020204" pitchFamily="34" charset="0"/>
                <a:ea typeface="ＭＳ Ｐゴシック" panose="020B0600070205080204" pitchFamily="50" charset="-128"/>
                <a:cs typeface="Arial" panose="020B0604020202020204" pitchFamily="34" charset="0"/>
              </a:rPr>
              <a:t>太宰府天満宮の歴史</a:t>
            </a:r>
            <a:endParaRPr lang="ja-JP" altLang="ja-JP" sz="8000" b="1" dirty="0">
              <a:solidFill>
                <a:schemeClr val="bg1"/>
              </a:solidFill>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a:p>
            <a:pPr>
              <a:spcBef>
                <a:spcPts val="600"/>
              </a:spcBef>
              <a:spcAft>
                <a:spcPts val="1200"/>
              </a:spcAft>
              <a:buNone/>
            </a:pPr>
            <a:r>
              <a:rPr lang="ja-JP" altLang="ja-JP" sz="8000" b="1" dirty="0">
                <a:solidFill>
                  <a:schemeClr val="bg1"/>
                </a:solidFill>
                <a:effectLst/>
                <a:latin typeface="Arial" panose="020B0604020202020204" pitchFamily="34" charset="0"/>
                <a:ea typeface="ＭＳ Ｐゴシック" panose="020B0600070205080204" pitchFamily="50" charset="-128"/>
                <a:cs typeface="Arial" panose="020B0604020202020204" pitchFamily="34" charset="0"/>
              </a:rPr>
              <a:t>サイズ：</a:t>
            </a:r>
            <a:r>
              <a:rPr lang="en-US" altLang="ja-JP" sz="8000" b="1" dirty="0">
                <a:solidFill>
                  <a:schemeClr val="bg1"/>
                </a:solidFill>
                <a:effectLst/>
                <a:latin typeface="Arial" panose="020B0604020202020204" pitchFamily="34" charset="0"/>
                <a:ea typeface="ＭＳ Ｐゴシック" panose="020B0600070205080204" pitchFamily="50" charset="-128"/>
                <a:cs typeface="ＭＳ Ｐゴシック" panose="020B0600070205080204" pitchFamily="50" charset="-128"/>
              </a:rPr>
              <a:t>B</a:t>
            </a:r>
            <a:r>
              <a:rPr lang="ja-JP" altLang="ja-JP" sz="8000" b="1" dirty="0">
                <a:solidFill>
                  <a:schemeClr val="bg1"/>
                </a:solidFill>
                <a:effectLst/>
                <a:latin typeface="Arial" panose="020B0604020202020204" pitchFamily="34" charset="0"/>
                <a:ea typeface="ＭＳ Ｐゴシック" panose="020B0600070205080204" pitchFamily="50" charset="-128"/>
                <a:cs typeface="Arial" panose="020B0604020202020204" pitchFamily="34" charset="0"/>
              </a:rPr>
              <a:t>４サイズ</a:t>
            </a:r>
            <a:endParaRPr lang="ja-JP" altLang="ja-JP" sz="8000" b="1" dirty="0">
              <a:solidFill>
                <a:schemeClr val="bg1"/>
              </a:solidFill>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a:p>
            <a:pPr>
              <a:spcBef>
                <a:spcPts val="600"/>
              </a:spcBef>
              <a:spcAft>
                <a:spcPts val="1200"/>
              </a:spcAft>
              <a:buNone/>
            </a:pPr>
            <a:r>
              <a:rPr lang="ja-JP" altLang="ja-JP" sz="8000" b="1" dirty="0">
                <a:solidFill>
                  <a:schemeClr val="bg1"/>
                </a:solidFill>
                <a:effectLst/>
                <a:latin typeface="Arial" panose="020B0604020202020204" pitchFamily="34" charset="0"/>
                <a:ea typeface="ＭＳ Ｐゴシック" panose="020B0600070205080204" pitchFamily="50" charset="-128"/>
                <a:cs typeface="Arial" panose="020B0604020202020204" pitchFamily="34" charset="0"/>
              </a:rPr>
              <a:t>写真元：太宰府天満宮で撮った写真の中からポスターの写真に使えるものを全面１枚</a:t>
            </a:r>
            <a:endParaRPr lang="ja-JP" altLang="ja-JP" sz="8000" b="1" dirty="0">
              <a:solidFill>
                <a:schemeClr val="bg1"/>
              </a:solidFill>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a:p>
            <a:pPr>
              <a:buNone/>
            </a:pPr>
            <a:r>
              <a:rPr lang="ja-JP" altLang="ja-JP" sz="8000" b="1" dirty="0">
                <a:solidFill>
                  <a:schemeClr val="bg1"/>
                </a:solidFill>
                <a:effectLst/>
                <a:latin typeface="游明朝" panose="02020400000000000000" pitchFamily="18" charset="-128"/>
                <a:ea typeface="BIZ UDゴシック" panose="020B0400000000000000" pitchFamily="49" charset="-128"/>
                <a:cs typeface="Times New Roman" panose="02020603050405020304" pitchFamily="18" charset="0"/>
              </a:rPr>
              <a:t>目的・背景：</a:t>
            </a:r>
            <a:r>
              <a:rPr lang="en-US" altLang="ja-JP" sz="8000" b="1" dirty="0">
                <a:solidFill>
                  <a:schemeClr val="bg1"/>
                </a:solidFill>
                <a:effectLst/>
                <a:latin typeface="游明朝" panose="02020400000000000000" pitchFamily="18" charset="-128"/>
                <a:ea typeface="BIZ UDゴシック" panose="020B0400000000000000" pitchFamily="49" charset="-128"/>
                <a:cs typeface="Times New Roman" panose="02020603050405020304" pitchFamily="18" charset="0"/>
              </a:rPr>
              <a:t>Web</a:t>
            </a:r>
            <a:r>
              <a:rPr lang="ja-JP" altLang="ja-JP" sz="8000" b="1" dirty="0">
                <a:solidFill>
                  <a:schemeClr val="bg1"/>
                </a:solidFill>
                <a:effectLst/>
                <a:latin typeface="游明朝" panose="02020400000000000000" pitchFamily="18" charset="-128"/>
                <a:ea typeface="BIZ UDゴシック" panose="020B0400000000000000" pitchFamily="49" charset="-128"/>
                <a:cs typeface="Times New Roman" panose="02020603050405020304" pitchFamily="18" charset="0"/>
              </a:rPr>
              <a:t>サイトだけではまずわざわざ調べたりしようともしない限りは閲覧されることが無いため、</a:t>
            </a:r>
            <a:endParaRPr lang="en-US" altLang="ja-JP" sz="8000" b="1" dirty="0">
              <a:solidFill>
                <a:schemeClr val="bg1"/>
              </a:solidFill>
              <a:effectLst/>
              <a:latin typeface="游明朝" panose="02020400000000000000" pitchFamily="18" charset="-128"/>
              <a:ea typeface="BIZ UDゴシック" panose="020B0400000000000000" pitchFamily="49" charset="-128"/>
              <a:cs typeface="Times New Roman" panose="02020603050405020304" pitchFamily="18" charset="0"/>
            </a:endParaRPr>
          </a:p>
          <a:p>
            <a:pPr>
              <a:buNone/>
            </a:pPr>
            <a:r>
              <a:rPr lang="ja-JP" altLang="ja-JP" sz="8000" b="1" dirty="0">
                <a:solidFill>
                  <a:schemeClr val="bg1"/>
                </a:solidFill>
                <a:effectLst/>
                <a:latin typeface="游明朝" panose="02020400000000000000" pitchFamily="18" charset="-128"/>
                <a:ea typeface="BIZ UDゴシック" panose="020B0400000000000000" pitchFamily="49" charset="-128"/>
                <a:cs typeface="Times New Roman" panose="02020603050405020304" pitchFamily="18" charset="0"/>
              </a:rPr>
              <a:t>ポスターを作ることで見る人の視線を誘導してポスターで興味を持った人が</a:t>
            </a:r>
            <a:r>
              <a:rPr lang="en-US" altLang="ja-JP" sz="8000" b="1" dirty="0">
                <a:solidFill>
                  <a:schemeClr val="bg1"/>
                </a:solidFill>
                <a:effectLst/>
                <a:latin typeface="游明朝" panose="02020400000000000000" pitchFamily="18" charset="-128"/>
                <a:ea typeface="BIZ UDゴシック" panose="020B0400000000000000" pitchFamily="49" charset="-128"/>
                <a:cs typeface="Times New Roman" panose="02020603050405020304" pitchFamily="18" charset="0"/>
              </a:rPr>
              <a:t>Web</a:t>
            </a:r>
            <a:r>
              <a:rPr lang="ja-JP" altLang="ja-JP" sz="8000" b="1" dirty="0">
                <a:solidFill>
                  <a:schemeClr val="bg1"/>
                </a:solidFill>
                <a:effectLst/>
                <a:latin typeface="游明朝" panose="02020400000000000000" pitchFamily="18" charset="-128"/>
                <a:ea typeface="BIZ UDゴシック" panose="020B0400000000000000" pitchFamily="49" charset="-128"/>
                <a:cs typeface="Times New Roman" panose="02020603050405020304" pitchFamily="18" charset="0"/>
              </a:rPr>
              <a:t>サイトを閲覧して、太宰府天満宮の歴史について細かく知ることが出来るため制作を決めました。</a:t>
            </a:r>
            <a:endParaRPr lang="ja-JP" altLang="ja-JP" sz="8000" b="1" dirty="0">
              <a:solidFill>
                <a:schemeClr val="bg1"/>
              </a:solidFill>
              <a:effectLst/>
              <a:latin typeface="游明朝" panose="02020400000000000000" pitchFamily="18" charset="-128"/>
              <a:ea typeface="游明朝" panose="02020400000000000000" pitchFamily="18" charset="-128"/>
              <a:cs typeface="Times New Roman" panose="02020603050405020304" pitchFamily="18" charset="0"/>
            </a:endParaRPr>
          </a:p>
          <a:p>
            <a:pPr>
              <a:spcBef>
                <a:spcPts val="600"/>
              </a:spcBef>
              <a:spcAft>
                <a:spcPts val="1200"/>
              </a:spcAft>
              <a:buNone/>
            </a:pPr>
            <a:r>
              <a:rPr lang="ja-JP" altLang="ja-JP" sz="8000" b="1" dirty="0">
                <a:solidFill>
                  <a:schemeClr val="bg1"/>
                </a:solidFill>
                <a:effectLst/>
                <a:latin typeface="Arial" panose="020B0604020202020204" pitchFamily="34" charset="0"/>
                <a:ea typeface="ＭＳ Ｐゴシック" panose="020B0600070205080204" pitchFamily="50" charset="-128"/>
                <a:cs typeface="Arial" panose="020B0604020202020204" pitchFamily="34" charset="0"/>
              </a:rPr>
              <a:t>内容：太宰府天満宮の歴史とグルメとグッズをかいつまんで載せる、そして</a:t>
            </a:r>
            <a:r>
              <a:rPr lang="en-US" altLang="ja-JP" sz="8000" b="1" dirty="0">
                <a:solidFill>
                  <a:schemeClr val="bg1"/>
                </a:solidFill>
                <a:effectLst/>
                <a:latin typeface="Arial" panose="020B0604020202020204" pitchFamily="34" charset="0"/>
                <a:ea typeface="ＭＳ Ｐゴシック" panose="020B0600070205080204" pitchFamily="50" charset="-128"/>
                <a:cs typeface="ＭＳ Ｐゴシック" panose="020B0600070205080204" pitchFamily="50" charset="-128"/>
              </a:rPr>
              <a:t>Web</a:t>
            </a:r>
            <a:r>
              <a:rPr lang="ja-JP" altLang="ja-JP" sz="8000" b="1" dirty="0">
                <a:solidFill>
                  <a:schemeClr val="bg1"/>
                </a:solidFill>
                <a:effectLst/>
                <a:latin typeface="Arial" panose="020B0604020202020204" pitchFamily="34" charset="0"/>
                <a:ea typeface="ＭＳ Ｐゴシック" panose="020B0600070205080204" pitchFamily="50" charset="-128"/>
                <a:cs typeface="Arial" panose="020B0604020202020204" pitchFamily="34" charset="0"/>
              </a:rPr>
              <a:t>サイトに飛べる</a:t>
            </a:r>
            <a:r>
              <a:rPr lang="en-US" altLang="ja-JP" sz="8000" b="1" dirty="0">
                <a:solidFill>
                  <a:schemeClr val="bg1"/>
                </a:solidFill>
                <a:effectLst/>
                <a:latin typeface="Arial" panose="020B0604020202020204" pitchFamily="34" charset="0"/>
                <a:ea typeface="ＭＳ Ｐゴシック" panose="020B0600070205080204" pitchFamily="50" charset="-128"/>
                <a:cs typeface="ＭＳ Ｐゴシック" panose="020B0600070205080204" pitchFamily="50" charset="-128"/>
              </a:rPr>
              <a:t>QR</a:t>
            </a:r>
            <a:r>
              <a:rPr lang="ja-JP" altLang="ja-JP" sz="8000" b="1" dirty="0">
                <a:solidFill>
                  <a:schemeClr val="bg1"/>
                </a:solidFill>
                <a:effectLst/>
                <a:latin typeface="Arial" panose="020B0604020202020204" pitchFamily="34" charset="0"/>
                <a:ea typeface="ＭＳ Ｐゴシック" panose="020B0600070205080204" pitchFamily="50" charset="-128"/>
                <a:cs typeface="Arial" panose="020B0604020202020204" pitchFamily="34" charset="0"/>
              </a:rPr>
              <a:t>コードを載せる。</a:t>
            </a:r>
            <a:endParaRPr lang="ja-JP" altLang="ja-JP" sz="8000" b="1" dirty="0">
              <a:solidFill>
                <a:schemeClr val="bg1"/>
              </a:solidFill>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a:p>
            <a:pPr>
              <a:spcBef>
                <a:spcPts val="600"/>
              </a:spcBef>
              <a:spcAft>
                <a:spcPts val="1200"/>
              </a:spcAft>
              <a:buNone/>
            </a:pPr>
            <a:r>
              <a:rPr lang="ja-JP" altLang="ja-JP" sz="8000" b="1" dirty="0">
                <a:solidFill>
                  <a:schemeClr val="bg1"/>
                </a:solidFill>
                <a:effectLst/>
                <a:latin typeface="Arial" panose="020B0604020202020204" pitchFamily="34" charset="0"/>
                <a:ea typeface="ＭＳ Ｐゴシック" panose="020B0600070205080204" pitchFamily="50" charset="-128"/>
                <a:cs typeface="Arial" panose="020B0604020202020204" pitchFamily="34" charset="0"/>
              </a:rPr>
              <a:t>主に分析の内容を載せるが、ポスターの大きさにより載せられる文章量には限界があるため、グルメの記載は梅々枝餅一つに絞ります。グッズも同様にお守り一つにします。</a:t>
            </a:r>
            <a:endParaRPr lang="ja-JP" altLang="ja-JP" sz="8000" b="1" dirty="0">
              <a:solidFill>
                <a:schemeClr val="bg1"/>
              </a:solidFill>
              <a:effectLst/>
              <a:latin typeface="ＭＳ Ｐゴシック" panose="020B0600070205080204" pitchFamily="50" charset="-128"/>
              <a:ea typeface="ＭＳ Ｐゴシック" panose="020B0600070205080204" pitchFamily="50" charset="-128"/>
              <a:cs typeface="ＭＳ Ｐゴシック" panose="020B0600070205080204" pitchFamily="50" charset="-128"/>
            </a:endParaRPr>
          </a:p>
          <a:p>
            <a:endParaRPr kumimoji="1" lang="ja-JP" altLang="en-US" dirty="0"/>
          </a:p>
        </p:txBody>
      </p:sp>
    </p:spTree>
    <p:extLst>
      <p:ext uri="{BB962C8B-B14F-4D97-AF65-F5344CB8AC3E}">
        <p14:creationId xmlns:p14="http://schemas.microsoft.com/office/powerpoint/2010/main" val="3859918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7E4EA3-AF30-34C4-7391-9F4A88839604}"/>
              </a:ext>
            </a:extLst>
          </p:cNvPr>
          <p:cNvSpPr>
            <a:spLocks noGrp="1"/>
          </p:cNvSpPr>
          <p:nvPr>
            <p:ph type="title"/>
          </p:nvPr>
        </p:nvSpPr>
        <p:spPr>
          <a:xfrm>
            <a:off x="2084832" y="1245324"/>
            <a:ext cx="8305800" cy="2149471"/>
          </a:xfrm>
        </p:spPr>
        <p:txBody>
          <a:bodyPr vert="horz" lIns="91440" tIns="45720" rIns="91440" bIns="45720" rtlCol="0" anchor="b">
            <a:normAutofit/>
          </a:bodyPr>
          <a:lstStyle/>
          <a:p>
            <a:endParaRPr kumimoji="1" lang="ja-JP" altLang="en-US" sz="4400" b="1" cap="none" dirty="0">
              <a:ln w="9525">
                <a:solidFill>
                  <a:schemeClr val="bg1"/>
                </a:solidFill>
                <a:prstDash val="solid"/>
              </a:ln>
              <a:effectLst>
                <a:outerShdw blurRad="12700" dist="38100" dir="2700000" algn="tl" rotWithShape="0">
                  <a:schemeClr val="bg1">
                    <a:lumMod val="50000"/>
                  </a:schemeClr>
                </a:outerShdw>
              </a:effectLst>
            </a:endParaRPr>
          </a:p>
        </p:txBody>
      </p:sp>
      <p:sp>
        <p:nvSpPr>
          <p:cNvPr id="3" name="コンテンツ プレースホルダー 2">
            <a:extLst>
              <a:ext uri="{FF2B5EF4-FFF2-40B4-BE49-F238E27FC236}">
                <a16:creationId xmlns:a16="http://schemas.microsoft.com/office/drawing/2014/main" id="{89A16A79-A400-0E66-8C21-BCD8CDB61A28}"/>
              </a:ext>
            </a:extLst>
          </p:cNvPr>
          <p:cNvSpPr>
            <a:spLocks noGrp="1"/>
          </p:cNvSpPr>
          <p:nvPr>
            <p:ph idx="1"/>
          </p:nvPr>
        </p:nvSpPr>
        <p:spPr>
          <a:xfrm>
            <a:off x="2487665" y="3486339"/>
            <a:ext cx="7005742" cy="1143002"/>
          </a:xfrm>
        </p:spPr>
        <p:txBody>
          <a:bodyPr vert="horz" lIns="91440" tIns="45720" rIns="91440" bIns="45720" rtlCol="0" anchor="t">
            <a:normAutofit/>
          </a:bodyPr>
          <a:lstStyle/>
          <a:p>
            <a:pPr marL="0" indent="0">
              <a:buNone/>
            </a:pPr>
            <a:r>
              <a:rPr kumimoji="1" lang="ja-JP" altLang="en-US" sz="3600" b="1" dirty="0">
                <a:ln w="9525">
                  <a:solidFill>
                    <a:schemeClr val="bg1"/>
                  </a:solidFill>
                  <a:prstDash val="solid"/>
                </a:ln>
                <a:solidFill>
                  <a:schemeClr val="tx1"/>
                </a:solidFill>
                <a:effectLst>
                  <a:outerShdw blurRad="12700" dist="38100" dir="2700000" algn="tl" rotWithShape="0">
                    <a:schemeClr val="bg1">
                      <a:lumMod val="50000"/>
                    </a:schemeClr>
                  </a:outerShdw>
                </a:effectLst>
              </a:rPr>
              <a:t>ご清聴ありがとうございました</a:t>
            </a:r>
          </a:p>
        </p:txBody>
      </p:sp>
      <p:sp>
        <p:nvSpPr>
          <p:cNvPr id="4" name="フレーム 3">
            <a:extLst>
              <a:ext uri="{FF2B5EF4-FFF2-40B4-BE49-F238E27FC236}">
                <a16:creationId xmlns:a16="http://schemas.microsoft.com/office/drawing/2014/main" id="{0AE9AB8B-C5B8-9B1A-5307-01407C516581}"/>
              </a:ext>
            </a:extLst>
          </p:cNvPr>
          <p:cNvSpPr/>
          <p:nvPr/>
        </p:nvSpPr>
        <p:spPr>
          <a:xfrm>
            <a:off x="-548640" y="-576072"/>
            <a:ext cx="13286232" cy="7836408"/>
          </a:xfrm>
          <a:prstGeom prst="fram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329125684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スライス">
  <a:themeElements>
    <a:clrScheme name="スライス">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スライス">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スライス">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916</TotalTime>
  <Words>475</Words>
  <Application>Microsoft Office PowerPoint</Application>
  <PresentationFormat>ワイド画面</PresentationFormat>
  <Paragraphs>28</Paragraphs>
  <Slides>8</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8</vt:i4>
      </vt:variant>
    </vt:vector>
  </HeadingPairs>
  <TitlesOfParts>
    <vt:vector size="17" baseType="lpstr">
      <vt:lpstr>BIZ UDゴシック</vt:lpstr>
      <vt:lpstr>BIZ UD明朝 Medium</vt:lpstr>
      <vt:lpstr>HGP創英角ｺﾞｼｯｸUB</vt:lpstr>
      <vt:lpstr>ＭＳ Ｐゴシック</vt:lpstr>
      <vt:lpstr>游明朝</vt:lpstr>
      <vt:lpstr>Arial</vt:lpstr>
      <vt:lpstr>Century Gothic</vt:lpstr>
      <vt:lpstr>Wingdings 3</vt:lpstr>
      <vt:lpstr>スライス</vt:lpstr>
      <vt:lpstr>予備審査発表</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佐藤　涼哉</dc:creator>
  <cp:lastModifiedBy>佐藤　涼哉</cp:lastModifiedBy>
  <cp:revision>11</cp:revision>
  <dcterms:created xsi:type="dcterms:W3CDTF">2026-05-07T02:00:50Z</dcterms:created>
  <dcterms:modified xsi:type="dcterms:W3CDTF">2026-10-05T00:36:34Z</dcterms:modified>
</cp:coreProperties>
</file>